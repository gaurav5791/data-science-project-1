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514600" y="14173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1A1C34"/>
          </a:solidFill>
          <a:ln/>
        </p:spPr>
      </p:sp>
      <p:sp>
        <p:nvSpPr>
          <p:cNvPr id="5" name="Text 3"/>
          <p:cNvSpPr/>
          <p:nvPr/>
        </p:nvSpPr>
        <p:spPr>
          <a:xfrm>
            <a:off x="2514600" y="14173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POWER BI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 Analytics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using Power BI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Statistical Hypothesis Testing &amp; Dashboard Insights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Indian Credit Card Transactions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0607040" cy="0"/>
          </a:xfrm>
          <a:prstGeom prst="line">
            <a:avLst/>
          </a:prstGeom>
          <a:noFill/>
          <a:ln w="12700">
            <a:solidFill>
              <a:srgbClr val="252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4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(2401003062)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— from a deliberately messy 10,658-row transaction dataset to a statistically validated, cleaned dataset and a 5-page interactive Power BI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2529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credit_card_transactions_INDIA.csv is a synthetic dataset, self-generated for coursework to simulate realistic — and intentionally messy — Indian credit card transaction behaviour, for practicing end-to-end data cleaning, EDA and hypothesis testing.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0E3A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Self-generated / synthetic dataset, created for summer-training coursework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61188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40873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10512" y="3538728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61188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40873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72384" y="3538728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361188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2112" y="40873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34256" y="3538728"/>
            <a:ext cx="1207008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361188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43984" y="40873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2432304" cy="1005840"/>
          </a:xfrm>
          <a:prstGeom prst="roundRect">
            <a:avLst>
              <a:gd name="adj" fmla="val 7273"/>
            </a:avLst>
          </a:prstGeom>
          <a:solidFill>
            <a:srgbClr val="13152C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1389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10,658 × 22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" y="55778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·  ROWS × COLUMNS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99816" y="5029200"/>
            <a:ext cx="2523744" cy="1005840"/>
          </a:xfrm>
          <a:prstGeom prst="roundRect">
            <a:avLst>
              <a:gd name="adj" fmla="val 7273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51389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10,059 × 22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55778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 ·  +3 ENGINEERED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1536192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Snippet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74520"/>
          <a:ext cx="5699455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457200"/>
                <a:gridCol w="1234440"/>
                <a:gridCol w="137160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TransactionID</a:t>
                      </a:r>
                      <a:endParaRPr lang="en-US" sz="8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8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TransactionDate</a:t>
                      </a:r>
                      <a:endParaRPr lang="en-US" sz="8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CardType</a:t>
                      </a:r>
                      <a:endParaRPr lang="en-US" sz="8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TXN0017996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07 November 2024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Coffee Shops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American Express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TXN0010335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21/03/2025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visa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TXN0000645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02-07-2024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Software Subscription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American Express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TXN0016227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17 October 2025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groceries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BA3B7"/>
                          </a:solidFill>
                        </a:rPr>
                        <a:t>Mastercard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0" y="3310128"/>
            <a:ext cx="5699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inconsistent capitalisation (“pharmacy” vs “Coffee Shops”) and three different date formats in one column — exactly the mess Section 2 of the notebook was built to fix.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43600" y="4023360"/>
            <a:ext cx="5699455" cy="2011680"/>
          </a:xfrm>
          <a:prstGeom prst="roundRect">
            <a:avLst>
              <a:gd name="adj" fmla="val 3636"/>
            </a:avLst>
          </a:prstGeom>
          <a:solidFill>
            <a:srgbClr val="0E0F1C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4768" y="4151376"/>
            <a:ext cx="5297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 —  22 columns, 10,658 entries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144768" y="4480560"/>
            <a:ext cx="5297119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 Column            Dtype  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 TransactionID     object 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Age               float64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Category          object  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  Amount_INR        object *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17  RewardPoints      float64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  MonthlyIncomeINR  float64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stored as text -&gt; hidden formatting issues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Taming a Messy Dataset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6" name="Image 0" descr="/home/claude/work/assets/icons/filte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170480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727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whitespace noise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874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'Airlines', 'AIRLINES', '  Airlines  ' inflated 21 real categories into 84 spellings.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402336" cy="402336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0" name="Image 1" descr="/home/claude/work/assets/icons/card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728935"/>
            <a:ext cx="193121" cy="1931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5968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brand naming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15568" y="28986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'AMEX', 'American Express', 'Amex' split one card brand across multiple labels.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48456"/>
            <a:ext cx="402336" cy="402336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4" name="Image 2" descr="/home/claude/work/assets/icons/cog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753063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621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boolean encoding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15568" y="39227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IsEMI stored as a jumble of 0 / 1 / True / False / Yes / No in the same column.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672584"/>
            <a:ext cx="402336" cy="402336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8" name="Image 3" descr="/home/claude/work/assets/icons/calendar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" y="4777191"/>
            <a:ext cx="193121" cy="1931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6451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15568" y="49469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'14-02-2024', '14/02/2024', '29 September 2025' all appear in TransactionDate.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355080" y="1600200"/>
            <a:ext cx="5287975" cy="2880360"/>
          </a:xfrm>
          <a:prstGeom prst="roundRect">
            <a:avLst>
              <a:gd name="adj" fmla="val 2540"/>
            </a:avLst>
          </a:prstGeom>
          <a:solidFill>
            <a:srgbClr val="0E0F1C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556248" y="1728216"/>
            <a:ext cx="4885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Python Snippet — Section 2, Data Cleaning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56248" y="2057400"/>
            <a:ext cx="4885639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 text + brand map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df[c] = df[c].str.strip().str.title()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card_map = {'amex': 'American Express',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'mc': 'Mastercard', 'rupay': 'RuPay'}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df['CardType'] = df['CardType'].str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.str.lower().map(card_map)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parse 4 mixed date formats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fmt in ('%d %B %Y','%d-%m-%Y',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'%d/%m/%Y','%Y-%m-%d'):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 return pd.to_datetime(x, fmt)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except: continue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355080" y="4709160"/>
            <a:ext cx="1219124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64808" y="4782312"/>
            <a:ext cx="999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→ 21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64808" y="5257800"/>
            <a:ext cx="99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SPELLINGS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711364" y="4709160"/>
            <a:ext cx="1219124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821092" y="4782312"/>
            <a:ext cx="999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821092" y="5257800"/>
            <a:ext cx="99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CARD-BRAND SPELLINGS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9067648" y="4709160"/>
            <a:ext cx="1219124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77376" y="4782312"/>
            <a:ext cx="999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9177376" y="5257800"/>
            <a:ext cx="99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SIGNS FIXED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10423931" y="4709160"/>
            <a:ext cx="1219124" cy="914400"/>
          </a:xfrm>
          <a:prstGeom prst="roundRect">
            <a:avLst>
              <a:gd name="adj" fmla="val 8000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533659" y="4782312"/>
            <a:ext cx="999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10533659" y="5257800"/>
            <a:ext cx="99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ENTRIES REMOVED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 &amp; Feature Engineering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Per Column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7088"/>
          <a:ext cx="3246120" cy="2834640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</a:tblGrid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Amount_INR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216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164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MonthlyIncomeINR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164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132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Merchant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111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CardType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111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PaymentMode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88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BA3B7"/>
                          </a:solidFill>
                        </a:rPr>
                        <a:t>City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D3E8"/>
                          </a:solidFill>
                        </a:rPr>
                        <a:t>54</a:t>
                      </a:r>
                      <a:endParaRPr lang="en-US" sz="9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977640" y="1847088"/>
            <a:ext cx="3913632" cy="2834640"/>
          </a:xfrm>
          <a:prstGeom prst="roundRect">
            <a:avLst>
              <a:gd name="adj" fmla="val 2581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78808" y="1975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Gap Was Closed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78808" y="2304288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(Age, MonthlyIncomeINR)  →  filled with column median</a:t>
            </a:r>
            <a:endParaRPr lang="en-US" sz="103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(Category, Merchant, PaymentMode, CardType, City)  →  filled “Unknown”</a:t>
            </a:r>
            <a:endParaRPr lang="en-US" sz="103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duplicate TransactionIDs  →  dropped, kept earliest by date</a:t>
            </a:r>
            <a:endParaRPr lang="en-US" sz="1030" dirty="0"/>
          </a:p>
          <a:p>
            <a:pPr marL="342900" indent="-342900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Amount_INR coerced to numeric; rows still missing it were excluded when filtering out implausible values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543800" y="1536192"/>
            <a:ext cx="4099255" cy="2148840"/>
          </a:xfrm>
          <a:prstGeom prst="roundRect">
            <a:avLst>
              <a:gd name="adj" fmla="val 3404"/>
            </a:avLst>
          </a:prstGeom>
          <a:solidFill>
            <a:srgbClr val="13152C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6916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2" name="Image 0" descr="/home/claude/work/assets/icons/warning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1778" y="1786738"/>
            <a:ext cx="175565" cy="1755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0" y="169164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— Flagged, Not Deleted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26680" y="2148840"/>
            <a:ext cx="37334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→ upper fence ₹3,862.70. 1,530 legitimate high-value transactions flagged for awareness, concentrated in Fine Dining (281), Jewelry (201), Luxury Retail (197) &amp; Electronics (197).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543800" y="3840480"/>
            <a:ext cx="4099255" cy="841248"/>
          </a:xfrm>
          <a:prstGeom prst="roundRect">
            <a:avLst>
              <a:gd name="adj" fmla="val 8696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08392" y="3931920"/>
            <a:ext cx="3770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Engineered Features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08392" y="4206240"/>
            <a:ext cx="37700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AgeGroup · IncomeBracket · TransactionMonth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0E1230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" y="4892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10,658 → 10,059 rows</a:t>
            </a:r>
            <a:pPr indent="0" marL="0">
              <a:buNone/>
            </a:pPr>
            <a:r>
              <a:rPr lang="en-US" sz="12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final cleaned dataset, zero remaining nulls, ready for analysis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Univariate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745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work/assets/cell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655064"/>
            <a:ext cx="3362858" cy="2167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95928"/>
            <a:ext cx="3527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concentrates in the 30–45 band. Transaction amount is heavily right-skewed — many small purchases, few large ones — so the median, not the mean, is the reliable centre here.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32122" y="1572768"/>
            <a:ext cx="352745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work/assets/cell2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655064"/>
            <a:ext cx="3362858" cy="21671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2122" y="3995928"/>
            <a:ext cx="3527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Groceries, Pharmacy, Coffee Shops, Fast Food and Fuel &amp; Transport are the most frequent categories by transaction count.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115605" y="1572768"/>
            <a:ext cx="352745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home/claude/work/assets/cell2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7901" y="1655064"/>
            <a:ext cx="3362858" cy="21671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5605" y="3995928"/>
            <a:ext cx="35274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of transactions succeed; 5.7% fail and 3.7% are refunded — a healthy, low-risk baseline.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Bivariate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74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work/assets/cell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655064"/>
            <a:ext cx="3362858" cy="2441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70248"/>
            <a:ext cx="3527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tier shows the widest spread and highest median spend — an early hint of the counter-intuitive tier finding confirmed later by ANOVA.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32122" y="1572768"/>
            <a:ext cx="35274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work/assets/cell2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4418" y="1655064"/>
            <a:ext cx="3362858" cy="2441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2122" y="4270248"/>
            <a:ext cx="3527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is close between genders — Male ₹7.76K vs Female ₹7.59K — a gap later confirmed as statistically borderline (p ≈ 0.056).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115605" y="1572768"/>
            <a:ext cx="352745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home/claude/work/assets/cell2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7901" y="1655064"/>
            <a:ext cx="3362858" cy="2441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5605" y="4270248"/>
            <a:ext cx="35274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upward trend: higher monthly income associates with higher transaction amounts (confirmed later: r ≈ 0.668).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View &amp; Correlation Analysis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work/assets/cell3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64208"/>
            <a:ext cx="47091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1032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× Card Tier heatmap: average spend varies sharply by combination — e.g. Central/Platinum (₹14,759) and East/Classic (₹14,415) run far above the overall average, showing spend drivers interact rather than acting independently.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1572768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work/assets/cell3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0" y="1664208"/>
            <a:ext cx="2880360" cy="3063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89720" y="1572768"/>
            <a:ext cx="2453335" cy="3246120"/>
          </a:xfrm>
          <a:prstGeom prst="roundRect">
            <a:avLst>
              <a:gd name="adj" fmla="val 2982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72600" y="1719072"/>
            <a:ext cx="2087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372600" y="2103120"/>
            <a:ext cx="2087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↔ RewardPoints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372600" y="2322576"/>
            <a:ext cx="2087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0.944   </a:t>
            </a:r>
            <a:pPr indent="0" marL="0">
              <a:buNone/>
            </a:pPr>
            <a:r>
              <a:rPr lang="en-US" sz="9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372600" y="2724912"/>
            <a:ext cx="2087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↔ Income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372600" y="2944368"/>
            <a:ext cx="2087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0.668   </a:t>
            </a:r>
            <a:pPr indent="0" marL="0">
              <a:buNone/>
            </a:pPr>
            <a:r>
              <a:rPr lang="en-US" sz="9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moderate–strong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372600" y="3346704"/>
            <a:ext cx="2087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RewardPoints ↔ Income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372600" y="3566160"/>
            <a:ext cx="2087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0.630   </a:t>
            </a:r>
            <a:pPr indent="0" marL="0">
              <a:buNone/>
            </a:pPr>
            <a:r>
              <a:rPr lang="en-US" sz="9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372600" y="3968496"/>
            <a:ext cx="2087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Amount / Income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9372600" y="4187952"/>
            <a:ext cx="2087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−0.03   </a:t>
            </a:r>
            <a:pPr indent="0" marL="0">
              <a:buNone/>
            </a:pPr>
            <a:r>
              <a:rPr lang="en-US" sz="9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372600" y="4608576"/>
            <a:ext cx="2087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significant at p&lt;0.05. Reward points scale almost linearly with spend, as designed.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22576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NOTEBOOK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 (α = 0.05)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2514600"/>
        </p:xfrm>
        <a:graphic>
          <a:graphicData uri="http://schemas.openxmlformats.org/drawingml/2006/table">
            <a:tbl>
              <a:tblPr/>
              <a:tblGrid>
                <a:gridCol w="1417320"/>
                <a:gridCol w="3246120"/>
                <a:gridCol w="1417320"/>
                <a:gridCol w="1417320"/>
                <a:gridCol w="1947672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H1 · t-test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Weekend vs weekday spend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t = −0.75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0.451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FAIL TO REJECT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H2 · ANOVA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Spend across 5 card tiers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F = 24.39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4.08e-20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181C"/>
                          </a:solidFill>
                        </a:rPr>
                        <a:t>REJECT H0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D3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H3 · Chi-square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Gender vs transaction status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χ² = 5.77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0.056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FAIL TO REJECT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H4 · Chi-square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Payment mode vs status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χ² = 10.75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0.216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FAIL TO REJECT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H5 · t-test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EMI vs non-EMI spend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t = 40.50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BA3B7"/>
                          </a:solidFill>
                        </a:rPr>
                        <a:t>2.8e-165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D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181C"/>
                          </a:solidFill>
                        </a:rPr>
                        <a:t>REJECT H0</a:t>
                      </a:r>
                      <a:endParaRPr lang="en-US" sz="105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D3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477316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tier genuinely affects spend (p&lt;0.001) — but counter to intuition, Classic tier shows the highest average transaction (₹9,802.86), not the premium tiers. EMI transactions run ~8× larger than non-EMI (₹45,313 vs ₹5,649, p&lt;0.001). Weekend spend and payment mode show no significant effect on amount or risk.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Five Analytical Pages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cleaned 10,059-row dataset in Power BI Desktop. Each page answers one business question about customer spending behaviour and risk.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0208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Spending Concentrate?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merchant and regional breakdown of total transaction value.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11094415" cy="0"/>
          </a:xfrm>
          <a:prstGeom prst="line">
            <a:avLst/>
          </a:prstGeom>
          <a:noFill/>
          <a:ln w="9525">
            <a:solidFill>
              <a:srgbClr val="2528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712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Spending?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182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age, gender and income shape transaction behaviour.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94415" cy="0"/>
          </a:xfrm>
          <a:prstGeom prst="line">
            <a:avLst/>
          </a:prstGeom>
          <a:noFill/>
          <a:ln w="9525">
            <a:solidFill>
              <a:srgbClr val="2528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7216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Payment Choices Affect Risk?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032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failure and refund patterns across payment mode, tier and card type.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11094415" cy="0"/>
          </a:xfrm>
          <a:prstGeom prst="line">
            <a:avLst/>
          </a:prstGeom>
          <a:noFill/>
          <a:ln w="9525">
            <a:solidFill>
              <a:srgbClr val="2528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08576"/>
            <a:ext cx="365760" cy="36576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45720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People Spend?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882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Day-of-week, weekend, monthly and time-of-day spending patterns.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4415" cy="0"/>
          </a:xfrm>
          <a:prstGeom prst="line">
            <a:avLst/>
          </a:prstGeom>
          <a:noFill/>
          <a:ln w="9525">
            <a:solidFill>
              <a:srgbClr val="252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58968"/>
            <a:ext cx="365760" cy="36576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" y="54223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Higher Spending?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5568" y="57332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payment preferences and tiers linked to bigger transactions.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Spending Concentrate?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merchant and regional breakdown of total transaction value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0" cy="4229967"/>
          </a:xfrm>
          <a:prstGeom prst="roundRect">
            <a:avLst>
              <a:gd name="adj" fmla="val 1729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work/assets/pag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65376"/>
            <a:ext cx="7150608" cy="4065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59351"/>
            <a:ext cx="91440" cy="9144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2" name="Shape 9"/>
          <p:cNvSpPr/>
          <p:nvPr/>
        </p:nvSpPr>
        <p:spPr>
          <a:xfrm>
            <a:off x="1353312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60861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of 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83880" y="17647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6" name="Image 1" descr="/home/claude/work/assets/icons/chart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224393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656" y="212140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Spend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77656" y="2395728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Dining leads at ₹12.1M, followed by Jewelry (₹9.5M) and Travel (₹9.3M).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183880" y="3114892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0" name="Image 2" descr="/home/claude/work/assets/icons/tabl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209989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7656" y="3087460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Merchants by Count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6178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Supermarket (302), DMart (298) and Reliance Fresh (291) lead by transaction count.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183880" y="4080944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4" name="Image 3" descr="/home/claude/work/assets/icons/chartpi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4176041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4053512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Share of Spend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77656" y="4327832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holds the largest share at 26.09% (₹20.14M); Central the smallest at 10.52%.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183880" y="5046996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8" name="Image 4" descr="/home/claude/work/assets/icons/map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5142093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7656" y="50195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by Region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7656" y="5293884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has the highest average ticket (₹8.0K); South the lowest (₹7.2K).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Spending?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age, gender and income shape transaction behaviour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0" cy="4229967"/>
          </a:xfrm>
          <a:prstGeom prst="roundRect">
            <a:avLst>
              <a:gd name="adj" fmla="val 1729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work/assets/page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65376"/>
            <a:ext cx="7150608" cy="4065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6159351"/>
            <a:ext cx="91440" cy="9144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2" name="Shape 9"/>
          <p:cNvSpPr/>
          <p:nvPr/>
        </p:nvSpPr>
        <p:spPr>
          <a:xfrm>
            <a:off x="1353312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60861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of 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83880" y="17647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6" name="Image 1" descr="/home/claude/work/assets/icons/us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224393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656" y="212140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Distribution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77656" y="2395728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 year-olds transact most often (3.1K transactions), ahead of 26–35 (2.8K).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183880" y="3114892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0" name="Image 2" descr="/home/claude/work/assets/icons/chartbar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209989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7656" y="3087460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Amount by Gender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6178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₹7.76K vs Female ₹7.59K — a narrow gap, later confirmed as statistically borderline.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183880" y="4080944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4" name="Image 3" descr="/home/claude/work/assets/icons/chartlin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4176041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4053512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Transaction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77656" y="4327832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income tracks with larger transaction amounts.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183880" y="5046996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8" name="Image 4" descr="/home/claude/work/assets/icons/card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5142093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7656" y="50195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by Card Type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7656" y="5293884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holders report the highest avg income (₹88K); RuPay/Amex the lowest (₹81K).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Payment Choices Affect Risk?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failure and refund patterns across payment mode, tier and card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0" cy="4229967"/>
          </a:xfrm>
          <a:prstGeom prst="roundRect">
            <a:avLst>
              <a:gd name="adj" fmla="val 1729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work/assets/page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65376"/>
            <a:ext cx="7150608" cy="4065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6159351"/>
            <a:ext cx="91440" cy="9144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2" name="Shape 9"/>
          <p:cNvSpPr/>
          <p:nvPr/>
        </p:nvSpPr>
        <p:spPr>
          <a:xfrm>
            <a:off x="1353312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60861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 of 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83880" y="17647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6" name="Image 1" descr="/home/claude/work/assets/icons/shield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224393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656" y="212140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by Payment Mode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77656" y="2395728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rates are consistent across all 5 modes — failure isn't concentrated in one channel.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183880" y="3114892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0" name="Image 2" descr="/home/claude/work/assets/icons/percen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209989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7656" y="3087460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by Card Tier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6178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through Gold hold ~91% success; Signature dips slightly to 89%.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183880" y="4080944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4" name="Image 3" descr="/home/claude/work/assets/icons/calculator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4176041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4053512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vs Non-EMI Share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77656" y="4327832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5.1% of transactions are EMI — but they carry far higher average value.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183880" y="5046996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8" name="Image 4" descr="/home/claude/work/assets/icons/card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5142093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7656" y="50195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 Distribution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7656" y="5293884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RuPay leads usage at 26.77%, closely followed by Visa (25.08%).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People Spend?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Day-of-week, weekend, monthly and time-of-day spending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0" cy="4229967"/>
          </a:xfrm>
          <a:prstGeom prst="roundRect">
            <a:avLst>
              <a:gd name="adj" fmla="val 1729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work/assets/page-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65376"/>
            <a:ext cx="7150608" cy="4065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6159351"/>
            <a:ext cx="91440" cy="9144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2" name="Shape 9"/>
          <p:cNvSpPr/>
          <p:nvPr/>
        </p:nvSpPr>
        <p:spPr>
          <a:xfrm>
            <a:off x="1353312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60861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 of 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83880" y="17647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6" name="Image 1" descr="/home/claude/work/assets/icons/calend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224393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656" y="212140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Day of Week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77656" y="2395728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top spending day (₹11.8M); Sunday the lowest (₹10.3M).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183880" y="3114892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0" name="Image 2" descr="/home/claude/work/assets/icons/chartpi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209989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7656" y="3087460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6178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70.96% of spend happens on weekdays — just 29.04% on weekends.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183880" y="4080944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4" name="Image 3" descr="/home/claude/work/assets/icons/chartlin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4176041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4053512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Trend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77656" y="4327832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peaks at ₹7.4M; April dips to ₹5.2M — no single runaway season.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183880" y="5046996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8" name="Image 4" descr="/home/claude/work/assets/icons/cloc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5142093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7656" y="50195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Hour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7656" y="5293884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clusters in late-morning and early-evening windows, tracking typical shopping hours.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Higher Spending?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payment preferences and tiers linked to bigger transactions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00" cy="4229967"/>
          </a:xfrm>
          <a:prstGeom prst="roundRect">
            <a:avLst>
              <a:gd name="adj" fmla="val 1729"/>
            </a:avLst>
          </a:prstGeom>
          <a:solidFill>
            <a:srgbClr val="0C1024"/>
          </a:solidFill>
          <a:ln w="9525">
            <a:solidFill>
              <a:srgbClr val="252846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work/assets/page-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865376"/>
            <a:ext cx="7150608" cy="4065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1" name="Shape 8"/>
          <p:cNvSpPr/>
          <p:nvPr/>
        </p:nvSpPr>
        <p:spPr>
          <a:xfrm>
            <a:off x="1152144" y="6159351"/>
            <a:ext cx="91440" cy="91440"/>
          </a:xfrm>
          <a:prstGeom prst="ellipse">
            <a:avLst/>
          </a:prstGeom>
          <a:solidFill>
            <a:srgbClr val="252846"/>
          </a:solidFill>
          <a:ln/>
        </p:spPr>
      </p:sp>
      <p:sp>
        <p:nvSpPr>
          <p:cNvPr id="12" name="Shape 9"/>
          <p:cNvSpPr/>
          <p:nvPr/>
        </p:nvSpPr>
        <p:spPr>
          <a:xfrm>
            <a:off x="1353312" y="6159351"/>
            <a:ext cx="91440" cy="91440"/>
          </a:xfrm>
          <a:prstGeom prst="ellipse">
            <a:avLst/>
          </a:prstGeom>
          <a:solidFill>
            <a:srgbClr val="08D3E8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608619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5 of 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83880" y="17647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Chart Shows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16" name="Image 1" descr="/home/claude/work/assets/icons/trophy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224393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77656" y="212140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Amount by Card Tier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77656" y="2395728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tops every tier at ₹9.8K — independently confirming the notebook's ANOVA finding.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183880" y="3114892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0" name="Image 2" descr="/home/claude/work/assets/icons/chartbar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209989"/>
            <a:ext cx="175565" cy="1755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7656" y="3087460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by Category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677656" y="336178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Dining again leads at ₹12.15M, with Jewelry and Travel close behind.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183880" y="4080944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4" name="Image 3" descr="/home/claude/work/assets/icons/chartlin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4176041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77656" y="4053512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Income &amp; Amount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77656" y="4327832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still scales with income within every individual card tier.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183880" y="5046996"/>
            <a:ext cx="365760" cy="365760"/>
          </a:xfrm>
          <a:prstGeom prst="ellipse">
            <a:avLst/>
          </a:prstGeom>
          <a:solidFill>
            <a:srgbClr val="0E3A44"/>
          </a:solidFill>
          <a:ln/>
        </p:spPr>
      </p:sp>
      <p:pic>
        <p:nvPicPr>
          <p:cNvPr id="28" name="Image 4" descr="/home/claude/work/assets/icons/calculator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5142093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7656" y="50195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Amount by Payment Mode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7656" y="5293884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Swipe carries the highest avg ticket (₹8.0K); Recurring/Auto-Debit the lowest (₹6.9K).</a:t>
            </a:r>
            <a:endParaRPr lang="en-US" sz="93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Notebook × Dashboard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515258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1494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spend of any tier (₹9,802.86, p&lt;0.001) — not the premium tiers. Confirmed independently on the Power BI side.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38218" y="1536192"/>
            <a:ext cx="3515258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1098" y="16459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~8×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21098" y="2084832"/>
            <a:ext cx="31494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transactions average ₹45.3K vs ₹5.6K for non-EMI (p&lt;0.001) — the dataset's clearest, most intuitive finding.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27797" y="1536192"/>
            <a:ext cx="3515258" cy="1234440"/>
          </a:xfrm>
          <a:prstGeom prst="roundRect">
            <a:avLst>
              <a:gd name="adj" fmla="val 5926"/>
            </a:avLst>
          </a:prstGeom>
          <a:solidFill>
            <a:srgbClr val="0E3A44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0677" y="16459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Dining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10677" y="2084832"/>
            <a:ext cx="31494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category by total spend in both the notebook (₹12.1M) and the dashboard (₹12.15M) — fully consistent.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Supported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spend: no significant difference (p = 0.45) — a myth worth retiring.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8728" y="3310128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has no significant link to failure/success/refund rate (p = 0.22).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877056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 transaction status is borderline (p ≈ 0.056) — not significant at α = 0.05.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8728" y="3877056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scale almost linearly with spend (r = 0.944), as designed.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443984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↔ Income shows a moderate–strong link (r = 0.668) across both notebook and dashboard.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78728" y="4443984"/>
            <a:ext cx="536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concentrates the largest regional share of spend (26.09%).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138928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0E1230"/>
          </a:solidFill>
          <a:ln w="9525">
            <a:solidFill>
              <a:srgbClr val="252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138928"/>
            <a:ext cx="1058235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Card Tier ↔ Amount relationship further — it's the most business-relevant and least intuitive finding, and likely has a real operational explanation (e.g. how tiers are assigned, or category mix per tier).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  ·  2401003062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0E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31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12700">
            <a:solidFill>
              <a:srgbClr val="2528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4370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 Analytics Dashboard using Power BI — from a deliberately messy 10,658-row dataset to a statistically validated, cleaned dataset and a 5-page interactive dashboard.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Kumar Gupta</a:t>
            </a:r>
            <a:pPr indent="0" marL="0">
              <a:buNone/>
            </a:pPr>
            <a:r>
              <a:rPr lang="en-US" sz="1400" dirty="0">
                <a:solidFill>
                  <a:srgbClr val="9B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2401003062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Transaction Analytics Dashboard using Power BI</dc:title>
  <dc:subject>PptxGenJS Presentation</dc:subject>
  <dc:creator>Gaurav Kumar Gupta</dc:creator>
  <cp:lastModifiedBy>Gaurav Kumar Gupta</cp:lastModifiedBy>
  <cp:revision>1</cp:revision>
  <dcterms:created xsi:type="dcterms:W3CDTF">2026-07-03T09:55:03Z</dcterms:created>
  <dcterms:modified xsi:type="dcterms:W3CDTF">2026-07-03T09:55:03Z</dcterms:modified>
</cp:coreProperties>
</file>